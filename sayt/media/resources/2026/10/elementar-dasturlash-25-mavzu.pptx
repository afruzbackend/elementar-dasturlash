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 / 14</a:t>
            </a:r>
          </a:p>
        </p:txBody>
      </p:sp>
      <p:sp>
        <p:nvSpPr>
          <p:cNvPr id="34" name="Round Same Side Corner Rectangle 33"/>
          <p:cNvSpPr/>
          <p:nvPr/>
        </p:nvSpPr>
        <p:spPr>
          <a:xfrm>
            <a:off x="731520" y="777240"/>
            <a:ext cx="3291840" cy="512064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 rot="2700000">
            <a:off x="1698430" y="1835590"/>
            <a:ext cx="1358019" cy="1358019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80160" y="2148840"/>
            <a:ext cx="2282342" cy="629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4600"/>
              </a:lnSpc>
            </a:pPr>
            <a:r>
              <a:rPr sz="4600" b="1">
                <a:solidFill>
                  <a:srgbClr val="B07D1E"/>
                </a:solidFill>
                <a:latin typeface="Georgia"/>
              </a:rPr>
              <a:t>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114800"/>
            <a:ext cx="3043123" cy="2679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750"/>
              </a:lnSpc>
            </a:pPr>
            <a:r>
              <a:rPr sz="1400" b="1">
                <a:solidFill>
                  <a:srgbClr val="F4EBDD"/>
                </a:solidFill>
                <a:latin typeface="Segoe UI"/>
              </a:rPr>
              <a:t>MAVZU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4400" y="4434840"/>
            <a:ext cx="304312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625"/>
              </a:lnSpc>
            </a:pPr>
            <a:r>
              <a:rPr sz="1300" b="0">
                <a:solidFill>
                  <a:srgbClr val="F4EBDD"/>
                </a:solidFill>
                <a:latin typeface="Segoe UI"/>
              </a:rPr>
              <a:t>Amaliy · 2 soat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0" y="1097280"/>
            <a:ext cx="716370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ELEMENTAR DASTURLASH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1532255"/>
            <a:ext cx="7163702" cy="1183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Dasturlardagi mantiqiy</a:t>
            </a:r>
            <a:br/>
            <a:r>
              <a:rPr sz="4000" b="1">
                <a:solidFill>
                  <a:srgbClr val="1B2A4A"/>
                </a:solidFill>
                <a:latin typeface="Georgia"/>
              </a:rPr>
              <a:t>xatolar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0" y="2898775"/>
            <a:ext cx="1097280" cy="5486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218815"/>
            <a:ext cx="7163702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0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Oydin Tashtemirova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0" y="3609467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Maxsus fan o‘qituvchisi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72000" y="3920744"/>
            <a:ext cx="7163702" cy="28384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75"/>
              </a:lnSpc>
            </a:pPr>
            <a:r>
              <a:rPr sz="1500" b="0">
                <a:solidFill>
                  <a:srgbClr val="6B6457"/>
                </a:solidFill>
                <a:latin typeface="Segoe UI"/>
              </a:rPr>
              <a:t>Piskent tuman 1-son texnikumi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Mashg‘ulot rejasi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 rot="2700000">
            <a:off x="1047356" y="202957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05840" y="207949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207949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Mantiqiy xatolarning asosiy turlari va ularning belgilari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310819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 rot="2700000">
            <a:off x="1047356" y="349261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05840" y="354253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828800" y="354253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Hisoblash, shart va sikllardagi tipik mantiqiy xatolar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31520" y="4571238"/>
            <a:ext cx="10728655" cy="1234440"/>
          </a:xfrm>
          <a:prstGeom prst="roundRect">
            <a:avLst>
              <a:gd name="adj" fmla="val 5925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 rot="2700000">
            <a:off x="1047356" y="4955654"/>
            <a:ext cx="465606" cy="46560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005840" y="5005578"/>
            <a:ext cx="570585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2000" b="1">
                <a:solidFill>
                  <a:srgbClr val="F4EBDD"/>
                </a:solidFill>
                <a:latin typeface="Georgia"/>
              </a:rPr>
              <a:t>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05578"/>
            <a:ext cx="9826435" cy="411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879"/>
              </a:lnSpc>
            </a:pPr>
            <a:r>
              <a:rPr sz="2400" b="1">
                <a:solidFill>
                  <a:srgbClr val="1B2A4A"/>
                </a:solidFill>
                <a:latin typeface="Georgia"/>
              </a:rPr>
              <a:t>Amaliy mashq: xatoli dasturni tahlil qilish va to‘g‘rilash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Maqsad va kutilayotgan natija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5181447" cy="8229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51560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07D1E"/>
                </a:solidFill>
                <a:latin typeface="Segoe UI"/>
              </a:rPr>
              <a:t>MAQSAD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2376678"/>
            <a:ext cx="4723022" cy="31661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O‘quvchilarga dasturlarda eng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ko‘p uchraydigan mantiqiy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xatolar turlarini tanish, ularning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belgilarini natijadan aniqlash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va xatoli kodni to‘g‘rilash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bo‘yicha amaliy ko‘nikmalar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berish.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78727" y="1645158"/>
            <a:ext cx="5181447" cy="4344161"/>
          </a:xfrm>
          <a:prstGeom prst="roundRect">
            <a:avLst>
              <a:gd name="adj" fmla="val 1683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8727" y="1645158"/>
            <a:ext cx="5181447" cy="82296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98767" y="1965198"/>
            <a:ext cx="4723022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25"/>
              </a:lnSpc>
            </a:pPr>
            <a:r>
              <a:rPr sz="1300" b="1">
                <a:solidFill>
                  <a:srgbClr val="B9862A"/>
                </a:solidFill>
                <a:latin typeface="Segoe UI"/>
              </a:rPr>
              <a:t>KUTILAYOTGAN NATIJA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98767" y="2376678"/>
            <a:ext cx="4723022" cy="2720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600" b="0">
                <a:solidFill>
                  <a:srgbClr val="3A4560"/>
                </a:solidFill>
                <a:latin typeface="Segoe UI"/>
              </a:rPr>
              <a:t>O‘quvchilar dastur natijasidagi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g‘ayrioddiy belgilarga qarab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mantiqiy xato turini taxmin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qiladi, xato satrni topadi va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turli kirish qiymatlari bilan</a:t>
            </a:r>
            <a:br/>
            <a:r>
              <a:rPr sz="2600" b="0">
                <a:solidFill>
                  <a:srgbClr val="3A4560"/>
                </a:solidFill>
                <a:latin typeface="Segoe UI"/>
              </a:rPr>
              <a:t>tuzatilgan dasturni sinaydi.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4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XATOLARNING ASOSIY TURLARI VA ULARNING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 nima?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96469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372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510"/>
              </a:lnSpc>
            </a:pPr>
            <a:r>
              <a:rPr sz="2700" b="0">
                <a:solidFill>
                  <a:srgbClr val="3A4560"/>
                </a:solidFill>
                <a:latin typeface="Segoe UI"/>
              </a:rPr>
              <a:t>Mantiqiy xato — dastur sintaktik jihatdan to‘g‘ri yozilgan, ishga tushadi</a:t>
            </a:r>
            <a:br/>
            <a:r>
              <a:rPr sz="2700" b="0">
                <a:solidFill>
                  <a:srgbClr val="3A4560"/>
                </a:solidFill>
                <a:latin typeface="Segoe UI"/>
              </a:rPr>
              <a:t>va hech qanday xato xabari chiqarmaydi, lekin natija noto‘g‘ri bo‘ladi.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5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XATOLARNING ASOSIY TURLARI VA ULARNING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Uch xil xatoni solishtirish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2396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581"/>
                <a:gridCol w="2804080"/>
                <a:gridCol w="3535579"/>
                <a:gridCol w="231641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 turi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Qachon seziladi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Belgisi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Misol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Sintaktik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ishga tushmasdan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SyntaxError xabari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print("Salom"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Ishlash vaqtidagi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Bajarish paytida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ValueError, ZeroDivisionError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int("abc")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Mantiqiy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Natijani tekshirganda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Xabar yo‘q, javob noto‘g‘ri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ortacha = a + b / 2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6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1-REJA · MANTIQIY XATOLARNING ASOSIY TURLARI VA ULARNING BELGILARI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Mantiqiy xatolarning asosiy guruhlari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11328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1085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730"/>
              </a:lnSpc>
            </a:pPr>
            <a:r>
              <a:rPr sz="2100" b="0">
                <a:solidFill>
                  <a:srgbClr val="3A4560"/>
                </a:solidFill>
                <a:latin typeface="Segoe UI"/>
              </a:rPr>
              <a:t>Xatoni natijaning o‘zi «sotib qo‘yadi»: javob har doim 0 chiqsa — ko‘paytma 0 dan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boshlangan; javob bittaga kam bo‘lsa — chegara xatosi; sonlar yopishib chiqsa — tur</a:t>
            </a:r>
            <a:br/>
            <a:r>
              <a:rPr sz="2100" b="0">
                <a:solidFill>
                  <a:srgbClr val="3A4560"/>
                </a:solidFill>
                <a:latin typeface="Segoe UI"/>
              </a:rPr>
              <a:t>xatosi; dastur to‘xtamasa — cheksiz sikl.</a:t>
            </a:r>
          </a:p>
        </p:txBody>
      </p:sp>
      <p:sp>
        <p:nvSpPr>
          <p:cNvPr id="39" name="Rectangle 38"/>
          <p:cNvSpPr/>
          <p:nvPr/>
        </p:nvSpPr>
        <p:spPr>
          <a:xfrm rot="2700000">
            <a:off x="841161" y="298898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143000" y="2886456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Formula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amallar tartibi hisobga olinmagan yoki / o‘rniga // ishlatilgan.</a:t>
            </a:r>
          </a:p>
        </p:txBody>
      </p:sp>
      <p:sp>
        <p:nvSpPr>
          <p:cNvPr id="41" name="Rectangle 40"/>
          <p:cNvSpPr/>
          <p:nvPr/>
        </p:nvSpPr>
        <p:spPr>
          <a:xfrm rot="2700000">
            <a:off x="841161" y="3460409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3357880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Chegara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range(1, n) da n ning o‘zi kirmay qoladi, &gt;= o‘rniga &gt; yozilgan.</a:t>
            </a:r>
          </a:p>
        </p:txBody>
      </p:sp>
      <p:sp>
        <p:nvSpPr>
          <p:cNvPr id="43" name="Rectangle 42"/>
          <p:cNvSpPr/>
          <p:nvPr/>
        </p:nvSpPr>
        <p:spPr>
          <a:xfrm rot="2700000">
            <a:off x="841161" y="3931833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3000" y="3829304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Boshlang‘ich qiymat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yig‘indi 1 dan, ko‘paytma 0 dan boshlangan.</a:t>
            </a:r>
          </a:p>
        </p:txBody>
      </p:sp>
      <p:sp>
        <p:nvSpPr>
          <p:cNvPr id="45" name="Rectangle 44"/>
          <p:cNvSpPr/>
          <p:nvPr/>
        </p:nvSpPr>
        <p:spPr>
          <a:xfrm rot="2700000">
            <a:off x="841161" y="4403257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43000" y="4300728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Shart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and va or adashtirilgan, if-elif shartlari noto‘g‘ri tartibda.</a:t>
            </a:r>
          </a:p>
        </p:txBody>
      </p:sp>
      <p:sp>
        <p:nvSpPr>
          <p:cNvPr id="47" name="Rectangle 46"/>
          <p:cNvSpPr/>
          <p:nvPr/>
        </p:nvSpPr>
        <p:spPr>
          <a:xfrm rot="2700000">
            <a:off x="841161" y="4874681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143000" y="4772152"/>
            <a:ext cx="10729862" cy="370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Tur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input() natijasi int() ga aylantirilmagan, «2» + «3» = «23».</a:t>
            </a:r>
          </a:p>
        </p:txBody>
      </p:sp>
      <p:sp>
        <p:nvSpPr>
          <p:cNvPr id="49" name="Rectangle 48"/>
          <p:cNvSpPr/>
          <p:nvPr/>
        </p:nvSpPr>
        <p:spPr>
          <a:xfrm rot="2700000">
            <a:off x="841161" y="5346105"/>
            <a:ext cx="109901" cy="109901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143000" y="5243576"/>
            <a:ext cx="10729862" cy="695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60"/>
              </a:lnSpc>
            </a:pPr>
            <a:r>
              <a:rPr sz="2000" b="1">
                <a:solidFill>
                  <a:srgbClr val="1B2A4A"/>
                </a:solidFill>
                <a:latin typeface="Segoe UI"/>
              </a:rPr>
              <a:t>Chekinish xatosi: </a:t>
            </a:r>
            <a:r>
              <a:rPr sz="2000" b="0">
                <a:solidFill>
                  <a:srgbClr val="1B2A4A"/>
                </a:solidFill>
                <a:latin typeface="Segoe UI"/>
              </a:rPr>
              <a:t>buyruq sikl ichida qolishi kerak edi, lekin tashqariga chiqib qolgan (yoki</a:t>
            </a:r>
            <a:br/>
            <a:r>
              <a:rPr sz="2000" b="0">
                <a:solidFill>
                  <a:srgbClr val="1B2A4A"/>
                </a:solidFill>
                <a:latin typeface="Segoe UI"/>
              </a:rPr>
              <a:t>aksincha).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7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HISOBLASH, SHART VA SIKLLARDAGI TIPIK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Hisoblashdagi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3" cy="27241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45120"/>
                <a:gridCol w="1959145"/>
                <a:gridCol w="4478047"/>
                <a:gridCol w="74634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print(a + b / 2) # a=4, b=6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7.0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print((a + b) / 2)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5.0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130 / 60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2.1666666666666665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soat = 130 // 60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786130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input(); b = input(); print(a +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23 (2 va 3 kiritilsa)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 = int(input()); b = int(input()); print(a + b)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= 200000 * 15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3000000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chegirma = 200000 * 15 / 100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30000.0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8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HISOBLASH, SHART VA SIKLLARDAGI TIPIK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Shartlardagi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101422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9867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Ko‘p uchraydigan xato — so‘z bilan aytilgan shartni noto‘g‘ri mantiqiy amalga o‘girish. «Yosh 16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dan 18 gacha» degan shart ikkala qism ham rost bo‘lishini talab qiladi, ya’ni and kerak. Agar or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yozilsa, istalgan son shartdan o‘tadi.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814828"/>
          <a:ext cx="10728654" cy="24225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22304"/>
                <a:gridCol w="3460856"/>
                <a:gridCol w="3345494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Xatoli shart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Muammo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To‘g‘ri shart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yosh &gt;= 16 or yosh &lt;=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doim True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16 &lt;= yosh &lt;= 18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== 5 or 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6 har doim rost deb qaraladi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x == 5 or x == 6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 86: (a’lo)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86 ball a’loga kirmay qoladi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if ball &gt;= 86: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avval ball &gt;= 56, keyin ball &gt;= 71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90 ball ham «3» bo‘lib chiqadi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Kattasidan boshlab tekshirish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9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2-REJA · HISOBLASH, SHART VA SIKLLARDAGI TIPIK MANTIQIY XATOLAR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Sikllardagi xatolar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731520" y="164515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4303"/>
                <a:gridCol w="2829535"/>
                <a:gridCol w="3654816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Xato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Tuzatish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 … 10 yig‘indisi uchun range(1, 10)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45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range(1, 11) → 55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sikl ichida yozilgan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Faqat oxirgi son 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0 ni sikldan oldin yozish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Ko‘paytma uchun p =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Har doim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i &lt;= 5: tanasida i += 1 yo‘q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Cheksiz sikl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 += 1 qo‘shish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print(s) sikl ichida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Oraliq natijalar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print(s) ni chekinishsiz yozish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10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DASTURNI TAHLIL QILISH VA TO‘G‘RILASH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Amaliy mashq: «Xatoni top va tuzat»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70053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673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Kerakli jihozlar: Python 3 o‘rnatilgan kompyuter, xatoli kod kartochkasi. Xavfsizlik: cheksiz siklga</a:t>
            </a:r>
            <a:br/>
            <a:r>
              <a:rPr sz="1900" b="0">
                <a:solidFill>
                  <a:srgbClr val="3A4560"/>
                </a:solidFill>
                <a:latin typeface="Segoe UI"/>
              </a:rPr>
              <a:t>tushgan dasturni IDLE da Ctrl + C, Thonny da «Stop» tugmasi bilan to‘xtating.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50113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41561"/>
                <a:gridCol w="6487093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Kod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 / izoh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= 1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1-xato: yig‘indi 0 dan boshlanishi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for i in range(1, 5):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2-xato: faqat 4 ta baho so‘raladi, range(1, 6) kerak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 = int(input(str(i) + "-baho: "))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 += b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To‘g‘ri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ortacha = s // 5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3-xato: // kasr qismini tashlaydi, / kerak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11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3-REJA · AMALIY MASHQ: XATOLI DASTURNI TAHLIL QILISH VA TO‘G‘RILASH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Belgi bo‘yicha xatoni taxmin qilish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1520" y="1608582"/>
            <a:ext cx="45720" cy="386842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1645158"/>
            <a:ext cx="10920057" cy="35941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70"/>
              </a:lnSpc>
            </a:pPr>
            <a:r>
              <a:rPr sz="1900" b="0">
                <a:solidFill>
                  <a:srgbClr val="3A4560"/>
                </a:solidFill>
                <a:latin typeface="Segoe UI"/>
              </a:rPr>
              <a:t>AMALIY TOPSHIRIQ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31520" y="2187448"/>
          <a:ext cx="10728654" cy="29070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84488"/>
                <a:gridCol w="4023245"/>
                <a:gridCol w="3620921"/>
              </a:tblGrid>
              <a:tr h="484505"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Natijadagi belgi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Ehtimoliy sabab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1">
                          <a:solidFill>
                            <a:srgbClr val="F4EBDD"/>
                          </a:solidFill>
                          <a:latin typeface="Segoe UI"/>
                        </a:rPr>
                        <a:t>Nimani tekshirish kerak</a:t>
                      </a:r>
                    </a:p>
                  </a:txBody>
                  <a:tcPr marL="109728" marR="109728" marT="73152" marB="73152">
                    <a:solidFill>
                      <a:srgbClr val="B07D1E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Javob har doim 0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Ko‘paytma 0 dan boshlangan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Boshlang‘ich qiymat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Javob bitta qadamga kam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Chegara xatosi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range() va &gt; / &gt;= belgilari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Sonlar yopishib chiqadi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int() yoki float() yo‘q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input() satrlari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Kasr qismi yo‘qoladi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// ishlatilgan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Bo‘lish amali</a:t>
                      </a:r>
                    </a:p>
                  </a:txBody>
                  <a:tcPr marL="109728" marR="109728" marT="73152" marB="73152">
                    <a:solidFill>
                      <a:srgbClr val="ECDFCB"/>
                    </a:solidFill>
                  </a:tcPr>
                </a:tc>
              </a:tr>
              <a:tr h="484505"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Dastur to‘xtamaydi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Sikl o‘zgaruvchisi o‘zgarmaydi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00" b="0">
                          <a:solidFill>
                            <a:srgbClr val="1B2A4A"/>
                          </a:solidFill>
                          <a:latin typeface="Segoe UI"/>
                        </a:rPr>
                        <a:t>while tanasi</a:t>
                      </a:r>
                    </a:p>
                  </a:txBody>
                  <a:tcPr marL="109728" marR="109728" marT="73152" marB="73152">
                    <a:solidFill>
                      <a:srgbClr val="FBF6E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12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Asosiy atamalar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31520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1520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05840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Boshlang‘ich qiymat xatosi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05840" y="2207895"/>
            <a:ext cx="4936991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Yig‘indi 1 dan, ko‘paytma 0 dan boshlangan.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55867" y="1645158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55867" y="1645158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0187" y="1809750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Chegara xatosi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530187" y="2207895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Range(1, n) da n ning o‘zi kirmay qoladi, &gt;=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o‘rniga &gt; yozilgan.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05840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Chekinish xatosi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40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Buyruq sikl ichida qolishi kerak edi, lekin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tashqariga chiqib qolgan (yoki aksincha).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55867" y="3184652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55867" y="3184652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0187" y="3349244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Cheksiz sikl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530187" y="3747389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While shartidagi o‘zgaruvchi sikl ichida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o‘zgarmaydi.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31520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31520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05840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Formula xatosi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05840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Amallar tartibi hisobga olinmagan yoki /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o‘rniga // ishlatilgan.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6255867" y="4724146"/>
            <a:ext cx="5204307" cy="1310894"/>
          </a:xfrm>
          <a:prstGeom prst="roundRect">
            <a:avLst>
              <a:gd name="adj" fmla="val 5580"/>
            </a:avLst>
          </a:prstGeom>
          <a:solidFill>
            <a:srgbClr val="FBF6EC"/>
          </a:solidFill>
          <a:ln w="12700">
            <a:solidFill>
              <a:srgbClr val="D8C8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255867" y="4724146"/>
            <a:ext cx="73152" cy="131089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530187" y="4888738"/>
            <a:ext cx="4936991" cy="3524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15"/>
              </a:lnSpc>
            </a:pPr>
            <a:r>
              <a:rPr sz="2100" b="1">
                <a:solidFill>
                  <a:srgbClr val="1B2A4A"/>
                </a:solidFill>
                <a:latin typeface="Georgia"/>
              </a:rPr>
              <a:t>Ko‘p uchraydigan xato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530187" y="5286882"/>
            <a:ext cx="493699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340"/>
              </a:lnSpc>
            </a:pPr>
            <a:r>
              <a:rPr sz="1800" b="0">
                <a:solidFill>
                  <a:srgbClr val="3A4560"/>
                </a:solidFill>
                <a:latin typeface="Segoe UI"/>
              </a:rPr>
              <a:t>So‘z bilan aytilgan shartni noto‘g‘ri mantiqiy</a:t>
            </a:r>
            <a:br/>
            <a:r>
              <a:rPr sz="1800" b="0">
                <a:solidFill>
                  <a:srgbClr val="3A4560"/>
                </a:solidFill>
                <a:latin typeface="Segoe UI"/>
              </a:rPr>
              <a:t>amalga o‘girish.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13 / 14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566928"/>
            <a:ext cx="11157801" cy="2203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5"/>
              </a:lnSpc>
            </a:pPr>
            <a:r>
              <a:rPr sz="1100" b="1">
                <a:solidFill>
                  <a:srgbClr val="B07D1E"/>
                </a:solidFill>
                <a:latin typeface="Segoe UI"/>
              </a:rPr>
              <a:t>25-MAVZU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859536"/>
            <a:ext cx="11157801" cy="483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450"/>
              </a:lnSpc>
            </a:pPr>
            <a:r>
              <a:rPr sz="3000" b="1">
                <a:solidFill>
                  <a:srgbClr val="1B2A4A"/>
                </a:solidFill>
                <a:latin typeface="Georgia"/>
              </a:rPr>
              <a:t>Mustahkamlash uchun savollar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31520" y="1389126"/>
            <a:ext cx="822960" cy="45720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 rot="2700000">
            <a:off x="845283" y="172082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6384" y="175336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17320" y="164515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Mantiqiy xato sintaktik xatodan nimasi bilan farq qiladi?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 rot="2700000">
            <a:off x="845283" y="233296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236550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2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17320" y="225729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Nima uchun interpretator mantiqiy xatoni ko‘rsatmaydi?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 rot="2700000">
            <a:off x="845283" y="294510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86384" y="297764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17320" y="286943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«x == 5 or 6» sharti nima uchun har doim rost bo‘ladi?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 rot="2700000">
            <a:off x="845283" y="355724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86384" y="358978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4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17320" y="348157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Javob har doim 0 chiqsa, qanday xatoni taxmin qilasiz?</a:t>
            </a:r>
          </a:p>
        </p:txBody>
      </p:sp>
      <p:sp>
        <p:nvSpPr>
          <p:cNvPr id="53" name="Rectangle 52"/>
          <p:cNvSpPr/>
          <p:nvPr/>
        </p:nvSpPr>
        <p:spPr>
          <a:xfrm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 rot="2700000">
            <a:off x="845283" y="4169381"/>
            <a:ext cx="284537" cy="28453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6384" y="4201922"/>
            <a:ext cx="418429" cy="198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00"/>
              </a:lnSpc>
            </a:pPr>
            <a:r>
              <a:rPr sz="1200" b="1">
                <a:solidFill>
                  <a:srgbClr val="F4EBDD"/>
                </a:solidFill>
                <a:latin typeface="Segoe UI"/>
              </a:rPr>
              <a:t>5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417320" y="4093718"/>
            <a:ext cx="10206825" cy="4749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380"/>
              </a:lnSpc>
            </a:pPr>
            <a:r>
              <a:rPr sz="2600" b="0">
                <a:solidFill>
                  <a:srgbClr val="1B2A4A"/>
                </a:solidFill>
                <a:latin typeface="Segoe UI"/>
              </a:rPr>
              <a:t>Chegara xatosi deganda nima tushuniladi? Misol keltiring.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2700000">
            <a:off x="183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2700000">
            <a:off x="640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2700000">
            <a:off x="1097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2700000">
            <a:off x="1554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2700000">
            <a:off x="2012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2700000">
            <a:off x="2469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2700000">
            <a:off x="2926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2700000">
            <a:off x="3383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2700000">
            <a:off x="3840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2700000">
            <a:off x="4298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2700000">
            <a:off x="4755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 rot="2700000">
            <a:off x="5212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 rot="2700000">
            <a:off x="5669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 rot="2700000">
            <a:off x="6126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 rot="2700000">
            <a:off x="6584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 rot="2700000">
            <a:off x="7041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 rot="2700000">
            <a:off x="7498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 rot="2700000">
            <a:off x="79557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 rot="2700000">
            <a:off x="84129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 rot="2700000">
            <a:off x="88701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 rot="2700000">
            <a:off x="93273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 rot="2700000">
            <a:off x="97845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 rot="2700000">
            <a:off x="102417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 rot="2700000">
            <a:off x="106989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 rot="2700000">
            <a:off x="111561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 rot="2700000">
            <a:off x="11613346" y="229066"/>
            <a:ext cx="90507" cy="90507"/>
          </a:xfrm>
          <a:prstGeom prst="rect">
            <a:avLst/>
          </a:prstGeom>
          <a:solidFill>
            <a:srgbClr val="B986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 rot="2700000">
            <a:off x="12070546" y="229066"/>
            <a:ext cx="90507" cy="90507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8640" y="6291072"/>
            <a:ext cx="11094415" cy="10972"/>
          </a:xfrm>
          <a:prstGeom prst="rect">
            <a:avLst/>
          </a:prstGeom>
          <a:solidFill>
            <a:srgbClr val="D8C8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6400800"/>
            <a:ext cx="7607808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50"/>
              </a:lnSpc>
            </a:pPr>
            <a:r>
              <a:rPr sz="1000" b="0">
                <a:solidFill>
                  <a:srgbClr val="6B6457"/>
                </a:solidFill>
                <a:latin typeface="Segoe UI"/>
              </a:rPr>
              <a:t>Elementar dasturlash · 25-mavzu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814255" y="6400800"/>
            <a:ext cx="1901952" cy="20446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50"/>
              </a:lnSpc>
            </a:pPr>
            <a:r>
              <a:rPr sz="1000" b="1">
                <a:solidFill>
                  <a:srgbClr val="6B6457"/>
                </a:solidFill>
                <a:latin typeface="Segoe UI"/>
              </a:rPr>
              <a:t>14 / 14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 rot="2700000">
            <a:off x="5481505" y="1625937"/>
            <a:ext cx="1228684" cy="1228684"/>
          </a:xfrm>
          <a:prstGeom prst="rect">
            <a:avLst/>
          </a:prstGeom>
          <a:solidFill>
            <a:srgbClr val="B07D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 rot="2700000">
            <a:off x="5740175" y="1884608"/>
            <a:ext cx="711343" cy="711343"/>
          </a:xfrm>
          <a:prstGeom prst="rect">
            <a:avLst/>
          </a:prstGeom>
          <a:solidFill>
            <a:srgbClr val="F4EBD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29000"/>
            <a:ext cx="11157801" cy="680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000"/>
              </a:lnSpc>
            </a:pPr>
            <a:r>
              <a:rPr sz="4000" b="1">
                <a:solidFill>
                  <a:srgbClr val="1B2A4A"/>
                </a:solidFill>
                <a:latin typeface="Georgia"/>
              </a:rPr>
              <a:t>E’tiboringiz uchun rahmat!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251960"/>
            <a:ext cx="11157801" cy="363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00"/>
              </a:lnSpc>
            </a:pPr>
            <a:r>
              <a:rPr sz="2000" b="0">
                <a:solidFill>
                  <a:srgbClr val="3A4560"/>
                </a:solidFill>
                <a:latin typeface="Segoe UI"/>
              </a:rPr>
              <a:t>Savollaringiz bo‘lsa, marhamat.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92040"/>
            <a:ext cx="11157801" cy="299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000"/>
              </a:lnSpc>
            </a:pPr>
            <a:r>
              <a:rPr sz="1600" b="1">
                <a:solidFill>
                  <a:srgbClr val="B07D1E"/>
                </a:solidFill>
                <a:latin typeface="Segoe UI"/>
              </a:rPr>
              <a:t>Oydin Tashtemirova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25-mavzu. Dasturlardagi mantiqiy xatolar</dc:title>
  <dc:subject/>
  <dc:creator>Oydin Tashtemirova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