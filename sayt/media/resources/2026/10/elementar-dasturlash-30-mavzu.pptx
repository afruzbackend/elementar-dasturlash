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Elementar dasturlash · 30-mavzu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1 / 15</a:t>
            </a:r>
          </a:p>
        </p:txBody>
      </p:sp>
      <p:sp>
        <p:nvSpPr>
          <p:cNvPr id="34" name="Round Same Side Corner Rectangle 33"/>
          <p:cNvSpPr/>
          <p:nvPr/>
        </p:nvSpPr>
        <p:spPr>
          <a:xfrm>
            <a:off x="731520" y="777240"/>
            <a:ext cx="3291840" cy="512064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1698430" y="1835590"/>
            <a:ext cx="1358019" cy="1358019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 rot="2700000">
            <a:off x="1698430" y="1835590"/>
            <a:ext cx="1358019" cy="1358019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280160" y="2148840"/>
            <a:ext cx="2282342" cy="629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4600"/>
              </a:lnSpc>
            </a:pPr>
            <a:r>
              <a:rPr sz="4600" b="1">
                <a:solidFill>
                  <a:srgbClr val="3F7D4E"/>
                </a:solidFill>
                <a:latin typeface="Georgia"/>
              </a:rPr>
              <a:t>30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14400" y="4114800"/>
            <a:ext cx="3043123" cy="2679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750"/>
              </a:lnSpc>
            </a:pPr>
            <a:r>
              <a:rPr sz="1400" b="1">
                <a:solidFill>
                  <a:srgbClr val="F4EBDD"/>
                </a:solidFill>
                <a:latin typeface="Segoe UI"/>
              </a:rPr>
              <a:t>MAVZU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14400" y="4434840"/>
            <a:ext cx="3043123" cy="2520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625"/>
              </a:lnSpc>
            </a:pPr>
            <a:r>
              <a:rPr sz="1300" b="0">
                <a:solidFill>
                  <a:srgbClr val="F4EBDD"/>
                </a:solidFill>
                <a:latin typeface="Segoe UI"/>
              </a:rPr>
              <a:t>Amaliy · 2 soat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572000" y="1097280"/>
            <a:ext cx="7163702" cy="2520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25"/>
              </a:lnSpc>
            </a:pPr>
            <a:r>
              <a:rPr sz="1300" b="1">
                <a:solidFill>
                  <a:srgbClr val="3F7D4E"/>
                </a:solidFill>
                <a:latin typeface="Segoe UI"/>
              </a:rPr>
              <a:t>ELEMENTAR DASTURLASH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572000" y="1532255"/>
            <a:ext cx="7163702" cy="1752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4480"/>
              </a:lnSpc>
            </a:pPr>
            <a:r>
              <a:rPr sz="4000" b="1">
                <a:solidFill>
                  <a:srgbClr val="1B2A4A"/>
                </a:solidFill>
                <a:latin typeface="Georgia"/>
              </a:rPr>
              <a:t>Oddiy masalani mustaqil</a:t>
            </a:r>
            <a:br/>
            <a:r>
              <a:rPr sz="4000" b="1">
                <a:solidFill>
                  <a:srgbClr val="1B2A4A"/>
                </a:solidFill>
                <a:latin typeface="Georgia"/>
              </a:rPr>
              <a:t>dasturlash va yechimini</a:t>
            </a:r>
            <a:br/>
            <a:r>
              <a:rPr sz="4000" b="1">
                <a:solidFill>
                  <a:srgbClr val="1B2A4A"/>
                </a:solidFill>
                <a:latin typeface="Georgia"/>
              </a:rPr>
              <a:t>himoya qilish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572000" y="3467735"/>
            <a:ext cx="1097280" cy="54864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572000" y="3787774"/>
            <a:ext cx="7163702" cy="3632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500"/>
              </a:lnSpc>
            </a:pPr>
            <a:r>
              <a:rPr sz="2000" b="1">
                <a:solidFill>
                  <a:srgbClr val="1B2A4A"/>
                </a:solidFill>
                <a:latin typeface="Segoe UI"/>
              </a:rPr>
              <a:t>Oydin Tashtemirova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572000" y="4178427"/>
            <a:ext cx="7163702" cy="28384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75"/>
              </a:lnSpc>
            </a:pPr>
            <a:r>
              <a:rPr sz="1500" b="0">
                <a:solidFill>
                  <a:srgbClr val="6B6457"/>
                </a:solidFill>
                <a:latin typeface="Segoe UI"/>
              </a:rPr>
              <a:t>Maxsus fan o‘qituvchisi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572000" y="4489704"/>
            <a:ext cx="7163702" cy="28384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75"/>
              </a:lnSpc>
            </a:pPr>
            <a:r>
              <a:rPr sz="1500" b="0">
                <a:solidFill>
                  <a:srgbClr val="6B6457"/>
                </a:solidFill>
                <a:latin typeface="Segoe UI"/>
              </a:rPr>
              <a:t>Piskent tuman 1-son texnikumi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Elementar dasturlash · 30-mavzu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2 / 15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3F7D4E"/>
                </a:solidFill>
                <a:latin typeface="Segoe UI"/>
              </a:rPr>
              <a:t>30-MAVZU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Mashg‘ulot rejasi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731520" y="1645158"/>
            <a:ext cx="10728655" cy="1234440"/>
          </a:xfrm>
          <a:prstGeom prst="roundRect">
            <a:avLst>
              <a:gd name="adj" fmla="val 5925"/>
            </a:avLst>
          </a:prstGeom>
          <a:solidFill>
            <a:srgbClr val="FBF6EC"/>
          </a:solidFill>
          <a:ln w="12700">
            <a:solidFill>
              <a:srgbClr val="D8C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1047356" y="2029574"/>
            <a:ext cx="465606" cy="465606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 rot="2700000">
            <a:off x="1047356" y="2029574"/>
            <a:ext cx="465606" cy="465606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005840" y="2079498"/>
            <a:ext cx="570585" cy="299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000"/>
              </a:lnSpc>
            </a:pPr>
            <a:r>
              <a:rPr sz="2000" b="1">
                <a:solidFill>
                  <a:srgbClr val="F4EBDD"/>
                </a:solidFill>
                <a:latin typeface="Georgia"/>
              </a:rPr>
              <a:t>1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828800" y="2079498"/>
            <a:ext cx="9826435" cy="41147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2400" b="1">
                <a:solidFill>
                  <a:srgbClr val="1B2A4A"/>
                </a:solidFill>
                <a:latin typeface="Georgia"/>
              </a:rPr>
              <a:t>Mustaqil loyiha bosqichlari va topshiriq variantlari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731520" y="3108198"/>
            <a:ext cx="10728655" cy="1234440"/>
          </a:xfrm>
          <a:prstGeom prst="roundRect">
            <a:avLst>
              <a:gd name="adj" fmla="val 5925"/>
            </a:avLst>
          </a:prstGeom>
          <a:solidFill>
            <a:srgbClr val="FBF6EC"/>
          </a:solidFill>
          <a:ln w="12700">
            <a:solidFill>
              <a:srgbClr val="D8C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1047356" y="3492614"/>
            <a:ext cx="465606" cy="465606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 rot="2700000">
            <a:off x="1047356" y="3492614"/>
            <a:ext cx="465606" cy="465606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005840" y="3542538"/>
            <a:ext cx="570585" cy="299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000"/>
              </a:lnSpc>
            </a:pPr>
            <a:r>
              <a:rPr sz="2000" b="1">
                <a:solidFill>
                  <a:srgbClr val="F4EBDD"/>
                </a:solidFill>
                <a:latin typeface="Georgia"/>
              </a:rPr>
              <a:t>2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828800" y="3542538"/>
            <a:ext cx="9826435" cy="41147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2400" b="1">
                <a:solidFill>
                  <a:srgbClr val="1B2A4A"/>
                </a:solidFill>
                <a:latin typeface="Georgia"/>
              </a:rPr>
              <a:t>Namunaviy loyiha: «kompyuter do‘koni kassasi» dasturi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731520" y="4571238"/>
            <a:ext cx="10728655" cy="1234440"/>
          </a:xfrm>
          <a:prstGeom prst="roundRect">
            <a:avLst>
              <a:gd name="adj" fmla="val 5925"/>
            </a:avLst>
          </a:prstGeom>
          <a:solidFill>
            <a:srgbClr val="FBF6EC"/>
          </a:solidFill>
          <a:ln w="12700">
            <a:solidFill>
              <a:srgbClr val="D8C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1047356" y="4955654"/>
            <a:ext cx="465606" cy="465606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 rot="2700000">
            <a:off x="1047356" y="4955654"/>
            <a:ext cx="465606" cy="465606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1005840" y="5005578"/>
            <a:ext cx="570585" cy="299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000"/>
              </a:lnSpc>
            </a:pPr>
            <a:r>
              <a:rPr sz="2000" b="1">
                <a:solidFill>
                  <a:srgbClr val="F4EBDD"/>
                </a:solidFill>
                <a:latin typeface="Georgia"/>
              </a:rPr>
              <a:t>3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828800" y="4822698"/>
            <a:ext cx="9826435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2400" b="1">
                <a:solidFill>
                  <a:srgbClr val="1B2A4A"/>
                </a:solidFill>
                <a:latin typeface="Georgia"/>
              </a:rPr>
              <a:t>Amaliy mashq: loyihani yakunlash va yechimni himoya</a:t>
            </a:r>
            <a:br/>
            <a:r>
              <a:rPr sz="2400" b="1">
                <a:solidFill>
                  <a:srgbClr val="1B2A4A"/>
                </a:solidFill>
                <a:latin typeface="Georgia"/>
              </a:rPr>
              <a:t>qilish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Elementar dasturlash · 30-mavzu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3 / 15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3F7D4E"/>
                </a:solidFill>
                <a:latin typeface="Segoe UI"/>
              </a:rPr>
              <a:t>30-MAVZU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Maqsad va kutilayotgan natija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731520" y="1645158"/>
            <a:ext cx="5181447" cy="4344161"/>
          </a:xfrm>
          <a:prstGeom prst="roundRect">
            <a:avLst>
              <a:gd name="adj" fmla="val 1683"/>
            </a:avLst>
          </a:prstGeom>
          <a:solidFill>
            <a:srgbClr val="FBF6EC"/>
          </a:solidFill>
          <a:ln w="12700">
            <a:solidFill>
              <a:srgbClr val="D8C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731520" y="1645158"/>
            <a:ext cx="5181447" cy="82296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51560" y="1965198"/>
            <a:ext cx="4723022" cy="2520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25"/>
              </a:lnSpc>
            </a:pPr>
            <a:r>
              <a:rPr sz="1300" b="1">
                <a:solidFill>
                  <a:srgbClr val="3F7D4E"/>
                </a:solidFill>
                <a:latin typeface="Segoe UI"/>
              </a:rPr>
              <a:t>MAQSAD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51560" y="2376678"/>
            <a:ext cx="4723022" cy="316611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510"/>
              </a:lnSpc>
            </a:pPr>
            <a:r>
              <a:rPr sz="2600" b="0">
                <a:solidFill>
                  <a:srgbClr val="3A4560"/>
                </a:solidFill>
                <a:latin typeface="Segoe UI"/>
              </a:rPr>
              <a:t>O‘quvchilarga oddiy amaliy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masalani tahlildan tortib test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va himoyagacha mustaqil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bajarish, o‘z yechimini asoslab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tushuntirish va savollarga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javob berish bo‘yicha amaliy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ko‘nikmalar berish.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278727" y="1645158"/>
            <a:ext cx="5181447" cy="4344161"/>
          </a:xfrm>
          <a:prstGeom prst="roundRect">
            <a:avLst>
              <a:gd name="adj" fmla="val 1683"/>
            </a:avLst>
          </a:prstGeom>
          <a:solidFill>
            <a:srgbClr val="FBF6EC"/>
          </a:solidFill>
          <a:ln w="12700">
            <a:solidFill>
              <a:srgbClr val="D8C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6278727" y="1645158"/>
            <a:ext cx="5181447" cy="82296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598767" y="1965198"/>
            <a:ext cx="4723022" cy="2520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25"/>
              </a:lnSpc>
            </a:pPr>
            <a:r>
              <a:rPr sz="1300" b="1">
                <a:solidFill>
                  <a:srgbClr val="B9862A"/>
                </a:solidFill>
                <a:latin typeface="Segoe UI"/>
              </a:rPr>
              <a:t>KUTILAYOTGAN NATIJA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598767" y="2376678"/>
            <a:ext cx="4723022" cy="27203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510"/>
              </a:lnSpc>
            </a:pPr>
            <a:r>
              <a:rPr sz="2600" b="0">
                <a:solidFill>
                  <a:srgbClr val="3A4560"/>
                </a:solidFill>
                <a:latin typeface="Segoe UI"/>
              </a:rPr>
              <a:t>O‘quvchilar individual masala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uchun algoritm, Python dasturi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va test jadvalini mustaqil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tayyorlaydi hamda yechimni 5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daqiqalik taqdimotda himoya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qiladi.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Elementar dasturlash · 30-mavzu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4 / 15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3F7D4E"/>
                </a:solidFill>
                <a:latin typeface="Segoe UI"/>
              </a:rPr>
              <a:t>1-REJA · MUSTAQIL LOYIHA BOSQICHLARI VA TOPSHIRIQ VARIANTLARI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Mustaqil loyiha nima?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31520" y="1608582"/>
            <a:ext cx="45720" cy="1856232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60120" y="1645158"/>
            <a:ext cx="10920057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510"/>
              </a:lnSpc>
            </a:pPr>
            <a:r>
              <a:rPr sz="2700" b="0">
                <a:solidFill>
                  <a:srgbClr val="3A4560"/>
                </a:solidFill>
                <a:latin typeface="Segoe UI"/>
              </a:rPr>
              <a:t>Mustaqil loyiha — modul davomida o‘rganilgan barcha bilimlarni bitta</a:t>
            </a:r>
            <a:br/>
            <a:r>
              <a:rPr sz="2700" b="0">
                <a:solidFill>
                  <a:srgbClr val="3A4560"/>
                </a:solidFill>
                <a:latin typeface="Segoe UI"/>
              </a:rPr>
              <a:t>topshiriqda birlashtirish imkoniyati. O‘quvchi masalani o‘zi tahlil qiladi,</a:t>
            </a:r>
            <a:br/>
            <a:r>
              <a:rPr sz="2700" b="0">
                <a:solidFill>
                  <a:srgbClr val="3A4560"/>
                </a:solidFill>
                <a:latin typeface="Segoe UI"/>
              </a:rPr>
              <a:t>algoritm tuzadi, dastur yozadi, uni sinaydi va natijani boshqalarga</a:t>
            </a:r>
            <a:br/>
            <a:r>
              <a:rPr sz="2700" b="0">
                <a:solidFill>
                  <a:srgbClr val="3A4560"/>
                </a:solidFill>
                <a:latin typeface="Segoe UI"/>
              </a:rPr>
              <a:t>tushuntirib beradi.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Elementar dasturlash · 30-mavzu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5 / 15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3F7D4E"/>
                </a:solidFill>
                <a:latin typeface="Segoe UI"/>
              </a:rPr>
              <a:t>1-REJA · MUSTAQIL LOYIHA BOSQICHLARI VA TOPSHIRIQ VARIANTLARI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Ish bosqichlari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 rot="2700000">
            <a:off x="841161" y="1794931"/>
            <a:ext cx="109901" cy="109901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143000" y="1645158"/>
            <a:ext cx="10729862" cy="4683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28"/>
              </a:lnSpc>
            </a:pPr>
            <a:r>
              <a:rPr sz="2600" b="1">
                <a:solidFill>
                  <a:srgbClr val="1B2A4A"/>
                </a:solidFill>
                <a:latin typeface="Segoe UI"/>
              </a:rPr>
              <a:t>Tahlil: </a:t>
            </a:r>
            <a:r>
              <a:rPr sz="2600" b="0">
                <a:solidFill>
                  <a:srgbClr val="1B2A4A"/>
                </a:solidFill>
                <a:latin typeface="Segoe UI"/>
              </a:rPr>
              <a:t>berilganlar, natija, shartlar va cheklovlarni yozish.</a:t>
            </a:r>
          </a:p>
        </p:txBody>
      </p:sp>
      <p:sp>
        <p:nvSpPr>
          <p:cNvPr id="39" name="Rectangle 38"/>
          <p:cNvSpPr/>
          <p:nvPr/>
        </p:nvSpPr>
        <p:spPr>
          <a:xfrm rot="2700000">
            <a:off x="841161" y="2363891"/>
            <a:ext cx="109901" cy="109901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143000" y="2214118"/>
            <a:ext cx="10729862" cy="4683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28"/>
              </a:lnSpc>
            </a:pPr>
            <a:r>
              <a:rPr sz="2600" b="1">
                <a:solidFill>
                  <a:srgbClr val="1B2A4A"/>
                </a:solidFill>
                <a:latin typeface="Segoe UI"/>
              </a:rPr>
              <a:t>Algoritm: </a:t>
            </a:r>
            <a:r>
              <a:rPr sz="2600" b="0">
                <a:solidFill>
                  <a:srgbClr val="1B2A4A"/>
                </a:solidFill>
                <a:latin typeface="Segoe UI"/>
              </a:rPr>
              <a:t>qadamlar ro‘yxati va blok-sxema.</a:t>
            </a:r>
          </a:p>
        </p:txBody>
      </p:sp>
      <p:sp>
        <p:nvSpPr>
          <p:cNvPr id="41" name="Rectangle 40"/>
          <p:cNvSpPr/>
          <p:nvPr/>
        </p:nvSpPr>
        <p:spPr>
          <a:xfrm rot="2700000">
            <a:off x="841161" y="2932851"/>
            <a:ext cx="109901" cy="109901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143000" y="2783078"/>
            <a:ext cx="10729862" cy="4683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28"/>
              </a:lnSpc>
            </a:pPr>
            <a:r>
              <a:rPr sz="2600" b="1">
                <a:solidFill>
                  <a:srgbClr val="1B2A4A"/>
                </a:solidFill>
                <a:latin typeface="Segoe UI"/>
              </a:rPr>
              <a:t>Dastur: </a:t>
            </a:r>
            <a:r>
              <a:rPr sz="2600" b="0">
                <a:solidFill>
                  <a:srgbClr val="1B2A4A"/>
                </a:solidFill>
                <a:latin typeface="Segoe UI"/>
              </a:rPr>
              <a:t>blok-sxema asosida Python kodi, izohlar bilan.</a:t>
            </a:r>
          </a:p>
        </p:txBody>
      </p:sp>
      <p:sp>
        <p:nvSpPr>
          <p:cNvPr id="43" name="Rectangle 42"/>
          <p:cNvSpPr/>
          <p:nvPr/>
        </p:nvSpPr>
        <p:spPr>
          <a:xfrm rot="2700000">
            <a:off x="841161" y="3501811"/>
            <a:ext cx="109901" cy="109901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143000" y="3352038"/>
            <a:ext cx="10729862" cy="891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28"/>
              </a:lnSpc>
            </a:pPr>
            <a:r>
              <a:rPr sz="2600" b="1">
                <a:solidFill>
                  <a:srgbClr val="1B2A4A"/>
                </a:solidFill>
                <a:latin typeface="Segoe UI"/>
              </a:rPr>
              <a:t>Test: </a:t>
            </a:r>
            <a:r>
              <a:rPr sz="2600" b="0">
                <a:solidFill>
                  <a:srgbClr val="1B2A4A"/>
                </a:solidFill>
                <a:latin typeface="Segoe UI"/>
              </a:rPr>
              <a:t>kamida 5 ta test qiymati (oddiy, chegaraviy, noto‘g‘ri) va natijalar</a:t>
            </a:r>
            <a:br/>
            <a:r>
              <a:rPr sz="2600" b="0">
                <a:solidFill>
                  <a:srgbClr val="1B2A4A"/>
                </a:solidFill>
                <a:latin typeface="Segoe UI"/>
              </a:rPr>
              <a:t>jadvali.</a:t>
            </a:r>
          </a:p>
        </p:txBody>
      </p:sp>
      <p:sp>
        <p:nvSpPr>
          <p:cNvPr id="45" name="Rectangle 44"/>
          <p:cNvSpPr/>
          <p:nvPr/>
        </p:nvSpPr>
        <p:spPr>
          <a:xfrm rot="2700000">
            <a:off x="841161" y="4493427"/>
            <a:ext cx="109901" cy="109901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143000" y="4343654"/>
            <a:ext cx="10729862" cy="4683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28"/>
              </a:lnSpc>
            </a:pPr>
            <a:r>
              <a:rPr sz="2600" b="1">
                <a:solidFill>
                  <a:srgbClr val="1B2A4A"/>
                </a:solidFill>
                <a:latin typeface="Segoe UI"/>
              </a:rPr>
              <a:t>Himoya: </a:t>
            </a:r>
            <a:r>
              <a:rPr sz="2600" b="0">
                <a:solidFill>
                  <a:srgbClr val="1B2A4A"/>
                </a:solidFill>
                <a:latin typeface="Segoe UI"/>
              </a:rPr>
              <a:t>5 daqiqalik taqdimot va savollarga javob.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Elementar dasturlash · 30-mavzu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6 / 15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3F7D4E"/>
                </a:solidFill>
                <a:latin typeface="Segoe UI"/>
              </a:rPr>
              <a:t>1-REJA · MUSTAQIL LOYIHA BOSQICHLARI VA TOPSHIRIQ VARIANTLARI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Topshiriq variantlari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37" name="Table 36"/>
          <p:cNvGraphicFramePr>
            <a:graphicFrameLocks noGrp="1"/>
          </p:cNvGraphicFramePr>
          <p:nvPr/>
        </p:nvGraphicFramePr>
        <p:xfrm>
          <a:off x="731520" y="1645158"/>
          <a:ext cx="10728654" cy="290703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53658"/>
                <a:gridCol w="7271644"/>
                <a:gridCol w="2503352"/>
              </a:tblGrid>
              <a:tr h="484505">
                <a:tc>
                  <a:txBody>
                    <a:bodyPr wrap="square"/>
                    <a:lstStyle/>
                    <a:p>
                      <a:r>
                        <a:rPr sz="1900" b="1">
                          <a:solidFill>
                            <a:srgbClr val="F4EBDD"/>
                          </a:solidFill>
                          <a:latin typeface="Segoe UI"/>
                        </a:rPr>
                        <a:t>№</a:t>
                      </a:r>
                    </a:p>
                  </a:txBody>
                  <a:tcPr marL="109728" marR="109728" marT="73152" marB="73152">
                    <a:solidFill>
                      <a:srgbClr val="3F7D4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1">
                          <a:solidFill>
                            <a:srgbClr val="F4EBDD"/>
                          </a:solidFill>
                          <a:latin typeface="Segoe UI"/>
                        </a:rPr>
                        <a:t>Masala</a:t>
                      </a:r>
                    </a:p>
                  </a:txBody>
                  <a:tcPr marL="109728" marR="109728" marT="73152" marB="73152">
                    <a:solidFill>
                      <a:srgbClr val="3F7D4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1">
                          <a:solidFill>
                            <a:srgbClr val="F4EBDD"/>
                          </a:solidFill>
                          <a:latin typeface="Segoe UI"/>
                        </a:rPr>
                        <a:t>Kerakli operatorlar</a:t>
                      </a:r>
                    </a:p>
                  </a:txBody>
                  <a:tcPr marL="109728" marR="109728" marT="73152" marB="73152">
                    <a:solidFill>
                      <a:srgbClr val="3F7D4E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1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Kompyuter do‘koni kassasi: mahsulotlar summasi va chegirma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while, if, f-satr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2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Guruh baholari: o‘rtacha, eng yuqori ball, a’lochilar soni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for, if, round()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3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Internet tarifini tanlash: oylik trafikka qarab arzon tarif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if-elif-else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4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Parol ishonchliligini tekshirish: uzunlik va raqam mavjudligi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while, for, if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5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Printer xizmati: varaqlar soni va rangiga qarab narx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if, arifmetik amallar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Elementar dasturlash · 30-mavzu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7 / 15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3F7D4E"/>
                </a:solidFill>
                <a:latin typeface="Segoe UI"/>
              </a:rPr>
              <a:t>2-REJA · NAMUNAVIY LOYIHA: «KOMPYUTER DO‘KONI KASSASI» DASTURI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Namunaviy loyiha: «Kompyuter do‘koni kassasi»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31520" y="1608582"/>
            <a:ext cx="45720" cy="1014222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60120" y="1645158"/>
            <a:ext cx="10920057" cy="9867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70"/>
              </a:lnSpc>
            </a:pPr>
            <a:r>
              <a:rPr sz="1900" b="0">
                <a:solidFill>
                  <a:srgbClr val="3A4560"/>
                </a:solidFill>
                <a:latin typeface="Segoe UI"/>
              </a:rPr>
              <a:t>Masala: kassir mahsulot narxlarini birma-bir kiritadi, 0 kiritilganda hisob yopiladi. Jami summa 1</a:t>
            </a:r>
            <a:br/>
            <a:r>
              <a:rPr sz="1900" b="0">
                <a:solidFill>
                  <a:srgbClr val="3A4560"/>
                </a:solidFill>
                <a:latin typeface="Segoe UI"/>
              </a:rPr>
              <a:t>000 000 so‘m va undan ko‘p bo‘lsa, 5 % chegirma beriladi. Manfiy narx qabul qilinmaydi. Dastur</a:t>
            </a:r>
            <a:br/>
            <a:r>
              <a:rPr sz="1900" b="0">
                <a:solidFill>
                  <a:srgbClr val="3A4560"/>
                </a:solidFill>
                <a:latin typeface="Segoe UI"/>
              </a:rPr>
              <a:t>mahsulotlar soni, chegirma va to‘lov summasini chiqaradi.</a:t>
            </a:r>
          </a:p>
        </p:txBody>
      </p:sp>
      <p:graphicFrame>
        <p:nvGraphicFramePr>
          <p:cNvPr id="39" name="Table 38"/>
          <p:cNvGraphicFramePr>
            <a:graphicFrameLocks noGrp="1"/>
          </p:cNvGraphicFramePr>
          <p:nvPr/>
        </p:nvGraphicFramePr>
        <p:xfrm>
          <a:off x="731520" y="2814828"/>
          <a:ext cx="10728654" cy="290703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152436"/>
                <a:gridCol w="3576218"/>
              </a:tblGrid>
              <a:tr h="484505">
                <a:tc>
                  <a:txBody>
                    <a:bodyPr wrap="square"/>
                    <a:lstStyle/>
                    <a:p>
                      <a:r>
                        <a:rPr sz="1900" b="1">
                          <a:solidFill>
                            <a:srgbClr val="F4EBDD"/>
                          </a:solidFill>
                          <a:latin typeface="Segoe UI"/>
                        </a:rPr>
                        <a:t>Kod</a:t>
                      </a:r>
                    </a:p>
                  </a:txBody>
                  <a:tcPr marL="109728" marR="109728" marT="73152" marB="73152">
                    <a:solidFill>
                      <a:srgbClr val="3F7D4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1">
                          <a:solidFill>
                            <a:srgbClr val="F4EBDD"/>
                          </a:solidFill>
                          <a:latin typeface="Segoe UI"/>
                        </a:rPr>
                        <a:t>Natija / izoh</a:t>
                      </a:r>
                    </a:p>
                  </a:txBody>
                  <a:tcPr marL="109728" marR="109728" marT="73152" marB="73152">
                    <a:solidFill>
                      <a:srgbClr val="3F7D4E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jami = 0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Boshlang‘ich qiymatlar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soni = 0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while True: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Narxlar kiritiladi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narx = float(input("Narx (0 - tugatish): "))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if narx == 0: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Hisobni yopish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Elementar dasturlash · 30-mavzu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8 / 15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3F7D4E"/>
                </a:solidFill>
                <a:latin typeface="Segoe UI"/>
              </a:rPr>
              <a:t>2-REJA · NAMUNAVIY LOYIHA: «KOMPYUTER DO‘KONI KASSASI» DASTURI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Test natijalari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37" name="Table 36"/>
          <p:cNvGraphicFramePr>
            <a:graphicFrameLocks noGrp="1"/>
          </p:cNvGraphicFramePr>
          <p:nvPr/>
        </p:nvGraphicFramePr>
        <p:xfrm>
          <a:off x="731520" y="1645158"/>
          <a:ext cx="10728653" cy="290703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83329"/>
                <a:gridCol w="5851993"/>
                <a:gridCol w="1393331"/>
              </a:tblGrid>
              <a:tr h="484505">
                <a:tc>
                  <a:txBody>
                    <a:bodyPr wrap="square"/>
                    <a:lstStyle/>
                    <a:p>
                      <a:r>
                        <a:rPr sz="1900" b="1">
                          <a:solidFill>
                            <a:srgbClr val="F4EBDD"/>
                          </a:solidFill>
                          <a:latin typeface="Segoe UI"/>
                        </a:rPr>
                        <a:t>Kiritish</a:t>
                      </a:r>
                    </a:p>
                  </a:txBody>
                  <a:tcPr marL="109728" marR="109728" marT="73152" marB="73152">
                    <a:solidFill>
                      <a:srgbClr val="3F7D4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1">
                          <a:solidFill>
                            <a:srgbClr val="F4EBDD"/>
                          </a:solidFill>
                          <a:latin typeface="Segoe UI"/>
                        </a:rPr>
                        <a:t>Kutilgan natija</a:t>
                      </a:r>
                    </a:p>
                  </a:txBody>
                  <a:tcPr marL="109728" marR="109728" marT="73152" marB="73152">
                    <a:solidFill>
                      <a:srgbClr val="3F7D4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1">
                          <a:solidFill>
                            <a:srgbClr val="F4EBDD"/>
                          </a:solidFill>
                          <a:latin typeface="Segoe UI"/>
                        </a:rPr>
                        <a:t>Turi</a:t>
                      </a:r>
                    </a:p>
                  </a:txBody>
                  <a:tcPr marL="109728" marR="109728" marT="73152" marB="73152">
                    <a:solidFill>
                      <a:srgbClr val="3F7D4E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450000, 350000, 250000, 0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3 ta; chegirma 52 500; to‘lov 997 500 so‘m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Oddiy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1000000, 0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1 ta; chegirma 50 000; to‘lov 950 000 so‘m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Chegaraviy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999999, 0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1 ta; chegirma 0; to‘lov 999 999 so‘m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Chegaraviy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200000, -5, 300000, 0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Ogohlantirish; 2 ta; to‘lov 500 000 so‘m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Noto‘g‘ri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0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0 ta; to‘lov 0 so‘m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Maxsus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Elementar dasturlash · 30-mavzu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9 / 15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3F7D4E"/>
                </a:solidFill>
                <a:latin typeface="Segoe UI"/>
              </a:rPr>
              <a:t>3-REJA · AMALIY MASHQ: LOYIHANI YAKUNLASH VA YECHIMNI HIMOYA QILISH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Amaliy mashq: loyihani yakunlash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31520" y="1608582"/>
            <a:ext cx="45720" cy="1410462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60120" y="1645158"/>
            <a:ext cx="10920057" cy="138303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510"/>
              </a:lnSpc>
            </a:pPr>
            <a:r>
              <a:rPr sz="2700" b="0">
                <a:solidFill>
                  <a:srgbClr val="3A4560"/>
                </a:solidFill>
                <a:latin typeface="Segoe UI"/>
              </a:rPr>
              <a:t>Kerakli jihozlar: kompyuter, loyiha fayli va test jadvali. Xavfsizlik va</a:t>
            </a:r>
            <a:br/>
            <a:r>
              <a:rPr sz="2700" b="0">
                <a:solidFill>
                  <a:srgbClr val="3A4560"/>
                </a:solidFill>
                <a:latin typeface="Segoe UI"/>
              </a:rPr>
              <a:t>tartib: dasturni o‘z papkangizga familiya_loyiha.py nomi bilan saqlang,</a:t>
            </a:r>
            <a:br/>
            <a:r>
              <a:rPr sz="2700" b="0">
                <a:solidFill>
                  <a:srgbClr val="3A4560"/>
                </a:solidFill>
                <a:latin typeface="Segoe UI"/>
              </a:rPr>
              <a:t>himoyadan oldin nusxasini fleshka yoki bulutli xotirada saqlab qo‘ying.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Elementar dasturlash · 30-mavzu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10 / 15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3F7D4E"/>
                </a:solidFill>
                <a:latin typeface="Segoe UI"/>
              </a:rPr>
              <a:t>3-REJA · AMALIY MASHQ: LOYIHANI YAKUNLASH VA YECHIMNI HIMOYA QILISH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Himoya tuzilmasi (5 daqiqa)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 rot="2700000">
            <a:off x="841161" y="1794931"/>
            <a:ext cx="109901" cy="109901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143000" y="1645158"/>
            <a:ext cx="10729862" cy="4683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28"/>
              </a:lnSpc>
            </a:pPr>
            <a:r>
              <a:rPr sz="2600" b="0">
                <a:solidFill>
                  <a:srgbClr val="1B2A4A"/>
                </a:solidFill>
                <a:latin typeface="Segoe UI"/>
              </a:rPr>
              <a:t>Masala sharti va uning hayotiy ahamiyati (30 soniya).</a:t>
            </a:r>
          </a:p>
        </p:txBody>
      </p:sp>
      <p:sp>
        <p:nvSpPr>
          <p:cNvPr id="39" name="Rectangle 38"/>
          <p:cNvSpPr/>
          <p:nvPr/>
        </p:nvSpPr>
        <p:spPr>
          <a:xfrm rot="2700000">
            <a:off x="841161" y="2363891"/>
            <a:ext cx="109901" cy="109901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143000" y="2214118"/>
            <a:ext cx="10729862" cy="4683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28"/>
              </a:lnSpc>
            </a:pPr>
            <a:r>
              <a:rPr sz="2600" b="0">
                <a:solidFill>
                  <a:srgbClr val="1B2A4A"/>
                </a:solidFill>
                <a:latin typeface="Segoe UI"/>
              </a:rPr>
              <a:t>Tahlil jadvali va blok-sxema (1 daqiqa).</a:t>
            </a:r>
          </a:p>
        </p:txBody>
      </p:sp>
      <p:sp>
        <p:nvSpPr>
          <p:cNvPr id="41" name="Rectangle 40"/>
          <p:cNvSpPr/>
          <p:nvPr/>
        </p:nvSpPr>
        <p:spPr>
          <a:xfrm rot="2700000">
            <a:off x="841161" y="2932851"/>
            <a:ext cx="109901" cy="109901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143000" y="2783078"/>
            <a:ext cx="10729862" cy="891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28"/>
              </a:lnSpc>
            </a:pPr>
            <a:r>
              <a:rPr sz="2600" b="1">
                <a:solidFill>
                  <a:srgbClr val="1B2A4A"/>
                </a:solidFill>
                <a:latin typeface="Segoe UI"/>
              </a:rPr>
              <a:t>Dastur kodining asosiy qismlari: </a:t>
            </a:r>
            <a:r>
              <a:rPr sz="2600" b="0">
                <a:solidFill>
                  <a:srgbClr val="1B2A4A"/>
                </a:solidFill>
                <a:latin typeface="Segoe UI"/>
              </a:rPr>
              <a:t>qaysi operator nima uchun</a:t>
            </a:r>
            <a:br/>
            <a:r>
              <a:rPr sz="2600" b="0">
                <a:solidFill>
                  <a:srgbClr val="1B2A4A"/>
                </a:solidFill>
                <a:latin typeface="Segoe UI"/>
              </a:rPr>
              <a:t>tanlangan (1,5 daqiqa).</a:t>
            </a:r>
          </a:p>
        </p:txBody>
      </p:sp>
      <p:sp>
        <p:nvSpPr>
          <p:cNvPr id="43" name="Rectangle 42"/>
          <p:cNvSpPr/>
          <p:nvPr/>
        </p:nvSpPr>
        <p:spPr>
          <a:xfrm rot="2700000">
            <a:off x="841161" y="3924467"/>
            <a:ext cx="109901" cy="109901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143000" y="3774694"/>
            <a:ext cx="10729862" cy="891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28"/>
              </a:lnSpc>
            </a:pPr>
            <a:r>
              <a:rPr sz="2600" b="1">
                <a:solidFill>
                  <a:srgbClr val="1B2A4A"/>
                </a:solidFill>
                <a:latin typeface="Segoe UI"/>
              </a:rPr>
              <a:t>Dasturni jonli ishga tushirish: </a:t>
            </a:r>
            <a:r>
              <a:rPr sz="2600" b="0">
                <a:solidFill>
                  <a:srgbClr val="1B2A4A"/>
                </a:solidFill>
                <a:latin typeface="Segoe UI"/>
              </a:rPr>
              <a:t>oddiy va chegaraviy qiymatlar (1,5</a:t>
            </a:r>
            <a:br/>
            <a:r>
              <a:rPr sz="2600" b="0">
                <a:solidFill>
                  <a:srgbClr val="1B2A4A"/>
                </a:solidFill>
                <a:latin typeface="Segoe UI"/>
              </a:rPr>
              <a:t>daqiqa).</a:t>
            </a:r>
          </a:p>
        </p:txBody>
      </p:sp>
      <p:sp>
        <p:nvSpPr>
          <p:cNvPr id="45" name="Rectangle 44"/>
          <p:cNvSpPr/>
          <p:nvPr/>
        </p:nvSpPr>
        <p:spPr>
          <a:xfrm rot="2700000">
            <a:off x="841161" y="4916083"/>
            <a:ext cx="109901" cy="109901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143000" y="4766310"/>
            <a:ext cx="10729862" cy="891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28"/>
              </a:lnSpc>
            </a:pPr>
            <a:r>
              <a:rPr sz="2600" b="0">
                <a:solidFill>
                  <a:srgbClr val="1B2A4A"/>
                </a:solidFill>
                <a:latin typeface="Segoe UI"/>
              </a:rPr>
              <a:t>Qanday xatolarga duch kelingani va ular qanday tuzatilgani (30</a:t>
            </a:r>
            <a:br/>
            <a:r>
              <a:rPr sz="2600" b="0">
                <a:solidFill>
                  <a:srgbClr val="1B2A4A"/>
                </a:solidFill>
                <a:latin typeface="Segoe UI"/>
              </a:rPr>
              <a:t>soniya).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Elementar dasturlash · 30-mavzu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11 / 15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3F7D4E"/>
                </a:solidFill>
                <a:latin typeface="Segoe UI"/>
              </a:rPr>
              <a:t>3-REJA · AMALIY MASHQ: LOYIHANI YAKUNLASH VA YECHIMNI HIMOYA QILISH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Himoyada beriladigan savollar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 rot="2700000">
            <a:off x="841161" y="1794931"/>
            <a:ext cx="109901" cy="109901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143000" y="1645158"/>
            <a:ext cx="10729862" cy="4683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28"/>
              </a:lnSpc>
            </a:pPr>
            <a:r>
              <a:rPr sz="2600" b="0">
                <a:solidFill>
                  <a:srgbClr val="1B2A4A"/>
                </a:solidFill>
                <a:latin typeface="Segoe UI"/>
              </a:rPr>
              <a:t>Nima uchun for emas, while sikli tanlandi?</a:t>
            </a:r>
          </a:p>
        </p:txBody>
      </p:sp>
      <p:sp>
        <p:nvSpPr>
          <p:cNvPr id="39" name="Rectangle 38"/>
          <p:cNvSpPr/>
          <p:nvPr/>
        </p:nvSpPr>
        <p:spPr>
          <a:xfrm rot="2700000">
            <a:off x="841161" y="2363891"/>
            <a:ext cx="109901" cy="109901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143000" y="2214118"/>
            <a:ext cx="10729862" cy="4683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28"/>
              </a:lnSpc>
            </a:pPr>
            <a:r>
              <a:rPr sz="2600" b="0">
                <a:solidFill>
                  <a:srgbClr val="1B2A4A"/>
                </a:solidFill>
                <a:latin typeface="Segoe UI"/>
              </a:rPr>
              <a:t>Agar foydalanuvchi son o‘rniga harf kiritsa, nima bo‘ladi?</a:t>
            </a:r>
          </a:p>
        </p:txBody>
      </p:sp>
      <p:sp>
        <p:nvSpPr>
          <p:cNvPr id="41" name="Rectangle 40"/>
          <p:cNvSpPr/>
          <p:nvPr/>
        </p:nvSpPr>
        <p:spPr>
          <a:xfrm rot="2700000">
            <a:off x="841161" y="2932851"/>
            <a:ext cx="109901" cy="109901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143000" y="2783078"/>
            <a:ext cx="10729862" cy="4683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28"/>
              </a:lnSpc>
            </a:pPr>
            <a:r>
              <a:rPr sz="2600" b="0">
                <a:solidFill>
                  <a:srgbClr val="1B2A4A"/>
                </a:solidFill>
                <a:latin typeface="Segoe UI"/>
              </a:rPr>
              <a:t>Chegaraviy qiymat sifatida qaysi sonlarni tanladingiz va nima uchun?</a:t>
            </a:r>
          </a:p>
        </p:txBody>
      </p:sp>
      <p:sp>
        <p:nvSpPr>
          <p:cNvPr id="43" name="Rectangle 42"/>
          <p:cNvSpPr/>
          <p:nvPr/>
        </p:nvSpPr>
        <p:spPr>
          <a:xfrm rot="2700000">
            <a:off x="841161" y="3501811"/>
            <a:ext cx="109901" cy="109901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143000" y="3352038"/>
            <a:ext cx="10729862" cy="4683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28"/>
              </a:lnSpc>
            </a:pPr>
            <a:r>
              <a:rPr sz="2600" b="0">
                <a:solidFill>
                  <a:srgbClr val="1B2A4A"/>
                </a:solidFill>
                <a:latin typeface="Segoe UI"/>
              </a:rPr>
              <a:t>Dasturni qanday yaxshilash mumkin?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Elementar dasturlash · 30-mavzu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12 / 15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3F7D4E"/>
                </a:solidFill>
                <a:latin typeface="Segoe UI"/>
              </a:rPr>
              <a:t>3-REJA · AMALIY MASHQ: LOYIHANI YAKUNLASH VA YECHIMNI HIMOYA QILISH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Baholash mezonlari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31520" y="1608582"/>
            <a:ext cx="45720" cy="386842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60120" y="1645158"/>
            <a:ext cx="10920057" cy="35941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70"/>
              </a:lnSpc>
            </a:pPr>
            <a:r>
              <a:rPr sz="1900" b="0">
                <a:solidFill>
                  <a:srgbClr val="3A4560"/>
                </a:solidFill>
                <a:latin typeface="Segoe UI"/>
              </a:rPr>
              <a:t>AMALIY TOPSHIRIQ</a:t>
            </a:r>
          </a:p>
        </p:txBody>
      </p:sp>
      <p:graphicFrame>
        <p:nvGraphicFramePr>
          <p:cNvPr id="39" name="Table 38"/>
          <p:cNvGraphicFramePr>
            <a:graphicFrameLocks noGrp="1"/>
          </p:cNvGraphicFramePr>
          <p:nvPr/>
        </p:nvGraphicFramePr>
        <p:xfrm>
          <a:off x="731520" y="2187448"/>
          <a:ext cx="10728655" cy="242252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88109"/>
                <a:gridCol w="8940546"/>
              </a:tblGrid>
              <a:tr h="484505">
                <a:tc>
                  <a:txBody>
                    <a:bodyPr wrap="square"/>
                    <a:lstStyle/>
                    <a:p>
                      <a:r>
                        <a:rPr sz="1900" b="1">
                          <a:solidFill>
                            <a:srgbClr val="F4EBDD"/>
                          </a:solidFill>
                          <a:latin typeface="Segoe UI"/>
                        </a:rPr>
                        <a:t>Baho</a:t>
                      </a:r>
                    </a:p>
                  </a:txBody>
                  <a:tcPr marL="109728" marR="109728" marT="73152" marB="73152">
                    <a:solidFill>
                      <a:srgbClr val="3F7D4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1">
                          <a:solidFill>
                            <a:srgbClr val="F4EBDD"/>
                          </a:solidFill>
                          <a:latin typeface="Segoe UI"/>
                        </a:rPr>
                        <a:t>Mezon</a:t>
                      </a:r>
                    </a:p>
                  </a:txBody>
                  <a:tcPr marL="109728" marR="109728" marT="73152" marB="73152">
                    <a:solidFill>
                      <a:srgbClr val="3F7D4E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5 (a’lo)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Loyiha to‘liq mustaqil bajarilgan, istisno holatlar hisobga olingan…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4 (yaxshi)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Dastur to‘g‘ri ishlaydi, test jadvali to‘liq, savollarga asosan javob…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3 (qoniqarli)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Dastur oddiy holatlarda ishlaydi, o‘qituvchi yordamida yakunlangan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2 (qoniqarsiz)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Dastur ishlamaydi yoki mustaqil bajarilmagan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Elementar dasturlash · 30-mavzu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13 / 15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3F7D4E"/>
                </a:solidFill>
                <a:latin typeface="Segoe UI"/>
              </a:rPr>
              <a:t>30-MAVZU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Asosiy atamalar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731520" y="1645158"/>
            <a:ext cx="5204307" cy="1310894"/>
          </a:xfrm>
          <a:prstGeom prst="roundRect">
            <a:avLst>
              <a:gd name="adj" fmla="val 5580"/>
            </a:avLst>
          </a:prstGeom>
          <a:solidFill>
            <a:srgbClr val="FBF6EC"/>
          </a:solidFill>
          <a:ln w="12700">
            <a:solidFill>
              <a:srgbClr val="D8C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731520" y="1645158"/>
            <a:ext cx="73152" cy="1310894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05840" y="1809750"/>
            <a:ext cx="4936991" cy="3524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15"/>
              </a:lnSpc>
            </a:pPr>
            <a:r>
              <a:rPr sz="2100" b="1">
                <a:solidFill>
                  <a:srgbClr val="1B2A4A"/>
                </a:solidFill>
                <a:latin typeface="Georgia"/>
              </a:rPr>
              <a:t>Dastur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05840" y="2207895"/>
            <a:ext cx="4936991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340"/>
              </a:lnSpc>
            </a:pPr>
            <a:r>
              <a:rPr sz="1800" b="0">
                <a:solidFill>
                  <a:srgbClr val="3A4560"/>
                </a:solidFill>
                <a:latin typeface="Segoe UI"/>
              </a:rPr>
              <a:t>Blok-sxema asosida Python kodi, izohlar bilan.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255867" y="1645158"/>
            <a:ext cx="5204307" cy="1310894"/>
          </a:xfrm>
          <a:prstGeom prst="roundRect">
            <a:avLst>
              <a:gd name="adj" fmla="val 5580"/>
            </a:avLst>
          </a:prstGeom>
          <a:solidFill>
            <a:srgbClr val="FBF6EC"/>
          </a:solidFill>
          <a:ln w="12700">
            <a:solidFill>
              <a:srgbClr val="D8C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6255867" y="1645158"/>
            <a:ext cx="73152" cy="1310894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530187" y="1809750"/>
            <a:ext cx="4936991" cy="36702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529"/>
              </a:lnSpc>
            </a:pPr>
            <a:r>
              <a:rPr sz="2200" b="1">
                <a:solidFill>
                  <a:srgbClr val="1B2A4A"/>
                </a:solidFill>
                <a:latin typeface="Georgia"/>
              </a:rPr>
              <a:t>Himoya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530187" y="2222500"/>
            <a:ext cx="4936991" cy="35941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70"/>
              </a:lnSpc>
            </a:pPr>
            <a:r>
              <a:rPr sz="1900" b="0">
                <a:solidFill>
                  <a:srgbClr val="3A4560"/>
                </a:solidFill>
                <a:latin typeface="Segoe UI"/>
              </a:rPr>
              <a:t>5 daqiqalik taqdimot va savollarga javob.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731520" y="3184652"/>
            <a:ext cx="5204307" cy="1310894"/>
          </a:xfrm>
          <a:prstGeom prst="roundRect">
            <a:avLst>
              <a:gd name="adj" fmla="val 5580"/>
            </a:avLst>
          </a:prstGeom>
          <a:solidFill>
            <a:srgbClr val="FBF6EC"/>
          </a:solidFill>
          <a:ln w="12700">
            <a:solidFill>
              <a:srgbClr val="D8C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731520" y="3184652"/>
            <a:ext cx="73152" cy="1310894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1005840" y="3349244"/>
            <a:ext cx="4936991" cy="3524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15"/>
              </a:lnSpc>
            </a:pPr>
            <a:r>
              <a:rPr sz="2100" b="1">
                <a:solidFill>
                  <a:srgbClr val="1B2A4A"/>
                </a:solidFill>
                <a:latin typeface="Georgia"/>
              </a:rPr>
              <a:t>Mustaqil loyiha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005840" y="3747389"/>
            <a:ext cx="4936991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340"/>
              </a:lnSpc>
            </a:pPr>
            <a:r>
              <a:rPr sz="1800" b="0">
                <a:solidFill>
                  <a:srgbClr val="3A4560"/>
                </a:solidFill>
                <a:latin typeface="Segoe UI"/>
              </a:rPr>
              <a:t>Modul davomida o‘rganilgan barcha bilimlarni</a:t>
            </a:r>
            <a:br/>
            <a:r>
              <a:rPr sz="1800" b="0">
                <a:solidFill>
                  <a:srgbClr val="3A4560"/>
                </a:solidFill>
                <a:latin typeface="Segoe UI"/>
              </a:rPr>
              <a:t>bitta topshiriqda birlashtirish imkoniyati.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6255867" y="3184652"/>
            <a:ext cx="5204307" cy="1310894"/>
          </a:xfrm>
          <a:prstGeom prst="roundRect">
            <a:avLst>
              <a:gd name="adj" fmla="val 5580"/>
            </a:avLst>
          </a:prstGeom>
          <a:solidFill>
            <a:srgbClr val="FBF6EC"/>
          </a:solidFill>
          <a:ln w="12700">
            <a:solidFill>
              <a:srgbClr val="D8C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6255867" y="3184652"/>
            <a:ext cx="73152" cy="1310894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530187" y="3349244"/>
            <a:ext cx="4936991" cy="3524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15"/>
              </a:lnSpc>
            </a:pPr>
            <a:r>
              <a:rPr sz="2100" b="1">
                <a:solidFill>
                  <a:srgbClr val="1B2A4A"/>
                </a:solidFill>
                <a:latin typeface="Georgia"/>
              </a:rPr>
              <a:t>Tahlil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530187" y="3747389"/>
            <a:ext cx="4936991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340"/>
              </a:lnSpc>
            </a:pPr>
            <a:r>
              <a:rPr sz="1800" b="0">
                <a:solidFill>
                  <a:srgbClr val="3A4560"/>
                </a:solidFill>
                <a:latin typeface="Segoe UI"/>
              </a:rPr>
              <a:t>Berilganlar, natija, shartlar va cheklovlarni</a:t>
            </a:r>
            <a:br/>
            <a:r>
              <a:rPr sz="1800" b="0">
                <a:solidFill>
                  <a:srgbClr val="3A4560"/>
                </a:solidFill>
                <a:latin typeface="Segoe UI"/>
              </a:rPr>
              <a:t>yozish.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731520" y="4724146"/>
            <a:ext cx="5204307" cy="1310894"/>
          </a:xfrm>
          <a:prstGeom prst="roundRect">
            <a:avLst>
              <a:gd name="adj" fmla="val 5580"/>
            </a:avLst>
          </a:prstGeom>
          <a:solidFill>
            <a:srgbClr val="FBF6EC"/>
          </a:solidFill>
          <a:ln w="12700">
            <a:solidFill>
              <a:srgbClr val="D8C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731520" y="4724146"/>
            <a:ext cx="73152" cy="1310894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1005840" y="4888738"/>
            <a:ext cx="4936991" cy="3524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15"/>
              </a:lnSpc>
            </a:pPr>
            <a:r>
              <a:rPr sz="2100" b="1">
                <a:solidFill>
                  <a:srgbClr val="1B2A4A"/>
                </a:solidFill>
                <a:latin typeface="Georgia"/>
              </a:rPr>
              <a:t>Test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005840" y="5286882"/>
            <a:ext cx="4936991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340"/>
              </a:lnSpc>
            </a:pPr>
            <a:r>
              <a:rPr sz="1800" b="0">
                <a:solidFill>
                  <a:srgbClr val="3A4560"/>
                </a:solidFill>
                <a:latin typeface="Segoe UI"/>
              </a:rPr>
              <a:t>Kamida 5 ta test qiymati (oddiy, chegaraviy,</a:t>
            </a:r>
            <a:br/>
            <a:r>
              <a:rPr sz="1800" b="0">
                <a:solidFill>
                  <a:srgbClr val="3A4560"/>
                </a:solidFill>
                <a:latin typeface="Segoe UI"/>
              </a:rPr>
              <a:t>noto‘g‘ri) va natijalar jadvali.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Elementar dasturlash · 30-mavzu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14 / 15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3F7D4E"/>
                </a:solidFill>
                <a:latin typeface="Segoe UI"/>
              </a:rPr>
              <a:t>30-MAVZU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Mustahkamlash uchun savollar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845283" y="1720821"/>
            <a:ext cx="284537" cy="28453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 rot="2700000">
            <a:off x="845283" y="1720821"/>
            <a:ext cx="284537" cy="28453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86384" y="1753362"/>
            <a:ext cx="418429" cy="198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200"/>
              </a:lnSpc>
            </a:pPr>
            <a:r>
              <a:rPr sz="1200" b="1">
                <a:solidFill>
                  <a:srgbClr val="F4EBDD"/>
                </a:solidFill>
                <a:latin typeface="Segoe UI"/>
              </a:rPr>
              <a:t>1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417320" y="1645158"/>
            <a:ext cx="10206825" cy="4749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80"/>
              </a:lnSpc>
            </a:pPr>
            <a:r>
              <a:rPr sz="2600" b="0">
                <a:solidFill>
                  <a:srgbClr val="1B2A4A"/>
                </a:solidFill>
                <a:latin typeface="Segoe UI"/>
              </a:rPr>
              <a:t>Mustaqil loyiha qanday bosqichlardan iborat?</a:t>
            </a:r>
          </a:p>
        </p:txBody>
      </p:sp>
      <p:sp>
        <p:nvSpPr>
          <p:cNvPr id="41" name="Rectangle 40"/>
          <p:cNvSpPr/>
          <p:nvPr/>
        </p:nvSpPr>
        <p:spPr>
          <a:xfrm>
            <a:off x="845283" y="2332961"/>
            <a:ext cx="284537" cy="28453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 rot="2700000">
            <a:off x="845283" y="2332961"/>
            <a:ext cx="284537" cy="28453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86384" y="2365502"/>
            <a:ext cx="418429" cy="198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200"/>
              </a:lnSpc>
            </a:pPr>
            <a:r>
              <a:rPr sz="1200" b="1">
                <a:solidFill>
                  <a:srgbClr val="F4EBDD"/>
                </a:solidFill>
                <a:latin typeface="Segoe UI"/>
              </a:rPr>
              <a:t>2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417320" y="2257298"/>
            <a:ext cx="10206825" cy="4749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80"/>
              </a:lnSpc>
            </a:pPr>
            <a:r>
              <a:rPr sz="2600" b="0">
                <a:solidFill>
                  <a:srgbClr val="1B2A4A"/>
                </a:solidFill>
                <a:latin typeface="Segoe UI"/>
              </a:rPr>
              <a:t>Kassa dasturida continue operatori qanday vazifani bajaradi?</a:t>
            </a:r>
          </a:p>
        </p:txBody>
      </p:sp>
      <p:sp>
        <p:nvSpPr>
          <p:cNvPr id="45" name="Rectangle 44"/>
          <p:cNvSpPr/>
          <p:nvPr/>
        </p:nvSpPr>
        <p:spPr>
          <a:xfrm>
            <a:off x="845283" y="2945101"/>
            <a:ext cx="284537" cy="28453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 rot="2700000">
            <a:off x="845283" y="2945101"/>
            <a:ext cx="284537" cy="28453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86384" y="2977642"/>
            <a:ext cx="418429" cy="198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200"/>
              </a:lnSpc>
            </a:pPr>
            <a:r>
              <a:rPr sz="1200" b="1">
                <a:solidFill>
                  <a:srgbClr val="F4EBDD"/>
                </a:solidFill>
                <a:latin typeface="Segoe UI"/>
              </a:rPr>
              <a:t>3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417320" y="2869438"/>
            <a:ext cx="10206825" cy="904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80"/>
              </a:lnSpc>
            </a:pPr>
            <a:r>
              <a:rPr sz="2600" b="0">
                <a:solidFill>
                  <a:srgbClr val="1B2A4A"/>
                </a:solidFill>
                <a:latin typeface="Segoe UI"/>
              </a:rPr>
              <a:t>Nima uchun 999999 va 1000000 qiymatlari chegaraviy test</a:t>
            </a:r>
            <a:br/>
            <a:r>
              <a:rPr sz="2600" b="0">
                <a:solidFill>
                  <a:srgbClr val="1B2A4A"/>
                </a:solidFill>
                <a:latin typeface="Segoe UI"/>
              </a:rPr>
              <a:t>hisoblanadi?</a:t>
            </a:r>
          </a:p>
        </p:txBody>
      </p:sp>
      <p:sp>
        <p:nvSpPr>
          <p:cNvPr id="49" name="Rectangle 48"/>
          <p:cNvSpPr/>
          <p:nvPr/>
        </p:nvSpPr>
        <p:spPr>
          <a:xfrm>
            <a:off x="845283" y="3986501"/>
            <a:ext cx="284537" cy="28453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 rot="2700000">
            <a:off x="845283" y="3986501"/>
            <a:ext cx="284537" cy="28453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786384" y="4019042"/>
            <a:ext cx="418429" cy="198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200"/>
              </a:lnSpc>
            </a:pPr>
            <a:r>
              <a:rPr sz="1200" b="1">
                <a:solidFill>
                  <a:srgbClr val="F4EBDD"/>
                </a:solidFill>
                <a:latin typeface="Segoe UI"/>
              </a:rPr>
              <a:t>4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417320" y="3910838"/>
            <a:ext cx="10206825" cy="4749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80"/>
              </a:lnSpc>
            </a:pPr>
            <a:r>
              <a:rPr sz="2600" b="0">
                <a:solidFill>
                  <a:srgbClr val="1B2A4A"/>
                </a:solidFill>
                <a:latin typeface="Segoe UI"/>
              </a:rPr>
              <a:t>Himoyada dasturni jonli ishga tushirish nima uchun muhim?</a:t>
            </a:r>
          </a:p>
        </p:txBody>
      </p:sp>
      <p:sp>
        <p:nvSpPr>
          <p:cNvPr id="53" name="Rectangle 52"/>
          <p:cNvSpPr/>
          <p:nvPr/>
        </p:nvSpPr>
        <p:spPr>
          <a:xfrm>
            <a:off x="845283" y="4598641"/>
            <a:ext cx="284537" cy="28453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 rot="2700000">
            <a:off x="845283" y="4598641"/>
            <a:ext cx="284537" cy="28453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786384" y="4631182"/>
            <a:ext cx="418429" cy="198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200"/>
              </a:lnSpc>
            </a:pPr>
            <a:r>
              <a:rPr sz="1200" b="1">
                <a:solidFill>
                  <a:srgbClr val="F4EBDD"/>
                </a:solidFill>
                <a:latin typeface="Segoe UI"/>
              </a:rPr>
              <a:t>5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417320" y="4522978"/>
            <a:ext cx="10206825" cy="4749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80"/>
              </a:lnSpc>
            </a:pPr>
            <a:r>
              <a:rPr sz="2600" b="0">
                <a:solidFill>
                  <a:srgbClr val="1B2A4A"/>
                </a:solidFill>
                <a:latin typeface="Segoe UI"/>
              </a:rPr>
              <a:t>O‘z loyihangizni qanday yaxshilash mumkin?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Elementar dasturlash · 30-mavzu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15 / 15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481505" y="1625937"/>
            <a:ext cx="1228684" cy="1228684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 rot="2700000">
            <a:off x="5481505" y="1625937"/>
            <a:ext cx="1228684" cy="1228684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5740175" y="1884608"/>
            <a:ext cx="711343" cy="711343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 rot="2700000">
            <a:off x="5740175" y="1884608"/>
            <a:ext cx="711343" cy="711343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31520" y="3429000"/>
            <a:ext cx="11157801" cy="680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5000"/>
              </a:lnSpc>
            </a:pPr>
            <a:r>
              <a:rPr sz="4000" b="1">
                <a:solidFill>
                  <a:srgbClr val="1B2A4A"/>
                </a:solidFill>
                <a:latin typeface="Georgia"/>
              </a:rPr>
              <a:t>E’tiboringiz uchun rahmat!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31520" y="4251960"/>
            <a:ext cx="11157801" cy="3632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500"/>
              </a:lnSpc>
            </a:pPr>
            <a:r>
              <a:rPr sz="2000" b="0">
                <a:solidFill>
                  <a:srgbClr val="3A4560"/>
                </a:solidFill>
                <a:latin typeface="Segoe UI"/>
              </a:rPr>
              <a:t>Savollaringiz bo‘lsa, marhamat.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31520" y="4892040"/>
            <a:ext cx="11157801" cy="299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000"/>
              </a:lnSpc>
            </a:pPr>
            <a:r>
              <a:rPr sz="1600" b="1">
                <a:solidFill>
                  <a:srgbClr val="3F7D4E"/>
                </a:solidFill>
                <a:latin typeface="Segoe UI"/>
              </a:rPr>
              <a:t>Oydin Tashtemirova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30-mavzu. Oddiy masalani mustaqil dasturlash va yechimini himoya qilish</dc:title>
  <dc:subject/>
  <dc:creator>Oydin Tashtemirova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